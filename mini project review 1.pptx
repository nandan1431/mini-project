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8288000" cy="10287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Times New Roman Bold" charset="0"/>
      <p:regular r:id="rId18"/>
    </p:embeddedFont>
    <p:embeddedFont>
      <p:font typeface="Trebuchet MS" pitchFamily="34" charset="0"/>
      <p:regular r:id="rId19"/>
      <p:bold r:id="rId20"/>
      <p:italic r:id="rId21"/>
      <p:boldItalic r:id="rId22"/>
    </p:embeddedFont>
    <p:embeddedFont>
      <p:font typeface="Baskerville Old Face" pitchFamily="18" charset="0"/>
      <p:regular r:id="rId23"/>
    </p:embeddedFont>
    <p:embeddedFont>
      <p:font typeface="Arimo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946" y="-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06.01.2026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xmlns="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3.sv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57588" y="2428856"/>
            <a:ext cx="8742998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endParaRPr lang="en-US" sz="2700" spc="-13" dirty="0">
              <a:solidFill>
                <a:srgbClr val="2E75B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40"/>
              </a:lnSpc>
            </a:pPr>
            <a:endParaRPr/>
          </a:p>
          <a:p>
            <a:pPr algn="l">
              <a:lnSpc>
                <a:spcPts val="6480"/>
              </a:lnSpc>
            </a:pPr>
            <a:r>
              <a:rPr lang="en-US" sz="5400" b="1" spc="-30" dirty="0" smtClean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Mini </a:t>
            </a:r>
            <a:r>
              <a:rPr lang="en-US" sz="5400" b="1" spc="-30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</a:t>
            </a:r>
            <a:r>
              <a:rPr lang="en-US" sz="5400" b="1" spc="-30" dirty="0" err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</a:t>
            </a:r>
            <a:r>
              <a:rPr lang="en-US" sz="5400" b="1" spc="-30" dirty="0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Review</a:t>
            </a:r>
          </a:p>
          <a:p>
            <a:pPr algn="ctr">
              <a:lnSpc>
                <a:spcPts val="3240"/>
              </a:lnSpc>
            </a:pPr>
            <a:r>
              <a:rPr lang="en-US" sz="2700" spc="-37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8248" y="4497124"/>
            <a:ext cx="16612552" cy="190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4"/>
              </a:lnSpc>
            </a:pPr>
            <a:r>
              <a:rPr lang="en-US" sz="5400">
                <a:solidFill>
                  <a:srgbClr val="333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Based volume control using Machine Learning</a:t>
            </a:r>
          </a:p>
          <a:p>
            <a:pPr algn="l">
              <a:lnSpc>
                <a:spcPts val="6314"/>
              </a:lnSpc>
            </a:pPr>
            <a:r>
              <a:rPr lang="en-US" sz="5400" spc="-15">
                <a:solidFill>
                  <a:srgbClr val="333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1506" y="8501086"/>
            <a:ext cx="5208994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Under </a:t>
            </a:r>
            <a:r>
              <a:rPr lang="en-US" sz="3600" spc="-43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guidance </a:t>
            </a:r>
            <a:r>
              <a:rPr lang="en-US" sz="3600" spc="-43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of</a:t>
            </a:r>
            <a:endParaRPr lang="en-US" sz="3600" spc="-43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715768" y="7286640"/>
            <a:ext cx="5481638" cy="275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600" spc="-67" dirty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Presented </a:t>
            </a:r>
            <a:r>
              <a:rPr lang="en-US" sz="3600" spc="-67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by</a:t>
            </a:r>
          </a:p>
          <a:p>
            <a:pPr algn="l">
              <a:lnSpc>
                <a:spcPts val="4295"/>
              </a:lnSpc>
            </a:pPr>
            <a:r>
              <a:rPr lang="en-US" sz="3600" spc="-67" dirty="0" smtClean="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M.Adithya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(23CSE3003)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T.Rithwik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(23CSE3007)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K.Nandan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(23CSE3016)</a:t>
            </a:r>
          </a:p>
          <a:p>
            <a:pPr algn="l">
              <a:lnSpc>
                <a:spcPts val="4295"/>
              </a:lnSpc>
            </a:pPr>
            <a:r>
              <a:rPr lang="en-US" sz="3600" spc="-67" dirty="0" err="1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G.Manoj</a:t>
            </a:r>
            <a:r>
              <a:rPr lang="en-US" sz="3600" spc="-67" dirty="0" smtClean="0">
                <a:solidFill>
                  <a:srgbClr val="000000"/>
                </a:solidFill>
                <a:latin typeface="Baskerville Old Face" pitchFamily="18" charset="0"/>
                <a:ea typeface="Trebuchet MS"/>
                <a:cs typeface="Times New Roman Bold" charset="0"/>
                <a:sym typeface="Trebuchet MS"/>
              </a:rPr>
              <a:t>(23CSE3014)</a:t>
            </a:r>
            <a:endParaRPr lang="en-US" sz="3600" spc="-67" dirty="0">
              <a:solidFill>
                <a:srgbClr val="000000"/>
              </a:solidFill>
              <a:latin typeface="Baskerville Old Face" pitchFamily="18" charset="0"/>
              <a:ea typeface="Trebuchet MS"/>
              <a:cs typeface="Times New Roman Bold" charset="0"/>
              <a:sym typeface="Trebuchet MS"/>
            </a:endParaRPr>
          </a:p>
        </p:txBody>
      </p:sp>
      <p:pic>
        <p:nvPicPr>
          <p:cNvPr id="8" name="Picture 7" descr="Screenshot 2026-01-06 160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390" y="642906"/>
            <a:ext cx="13787534" cy="2286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72298" y="1857352"/>
            <a:ext cx="3084833" cy="250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sz="54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Contents:</a:t>
            </a:r>
          </a:p>
          <a:p>
            <a:pPr algn="l">
              <a:lnSpc>
                <a:spcPts val="6480"/>
              </a:lnSpc>
            </a:pPr>
            <a:endParaRPr/>
          </a:p>
          <a:p>
            <a:pPr algn="l">
              <a:lnSpc>
                <a:spcPts val="648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143472" y="2928922"/>
            <a:ext cx="8215370" cy="5514330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and proposed system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434340" lvl="1" indent="-217170" algn="l">
              <a:lnSpc>
                <a:spcPts val="4320"/>
              </a:lnSpc>
            </a:pPr>
            <a:endParaRPr/>
          </a:p>
          <a:p>
            <a:pPr marL="434340" lvl="1" indent="-217170" algn="l">
              <a:lnSpc>
                <a:spcPts val="4320"/>
              </a:lnSpc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857192" y="2428875"/>
          <a:ext cx="16591973" cy="3913529"/>
        </p:xfrm>
        <a:graphic>
          <a:graphicData uri="http://schemas.openxmlformats.org/drawingml/2006/table">
            <a:tbl>
              <a:tblPr/>
              <a:tblGrid>
                <a:gridCol w="2357454"/>
                <a:gridCol w="3437102"/>
                <a:gridCol w="2803084"/>
                <a:gridCol w="2346989"/>
                <a:gridCol w="2968419"/>
                <a:gridCol w="2678925"/>
              </a:tblGrid>
              <a:tr h="958191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 dirty="0" err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Title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endParaRPr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year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 used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Drawbacks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826409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27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Mrs.Aileen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Emelda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V,</a:t>
                      </a:r>
                      <a:endParaRPr lang="en-US" sz="2400" dirty="0" smtClean="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Shivani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2400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Sanskruthi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</a:t>
                      </a:r>
                    </a:p>
                    <a:p>
                      <a:endParaRPr lang="en-US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 gestures volume control using machine learning</a:t>
                      </a:r>
                      <a:endParaRPr lang="en-US" sz="1100" dirty="0"/>
                    </a:p>
                    <a:p>
                      <a:pPr algn="l">
                        <a:lnSpc>
                          <a:spcPts val="3240"/>
                        </a:lnSpc>
                      </a:pPr>
                      <a:endParaRPr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KNN,Mediapipe,</a:t>
                      </a:r>
                      <a:endParaRPr lang="en-US" sz="1100"/>
                    </a:p>
                    <a:p>
                      <a:pPr algn="l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open-CV etc.</a:t>
                      </a:r>
                    </a:p>
                    <a:p>
                      <a:pPr algn="l">
                        <a:lnSpc>
                          <a:spcPts val="3240"/>
                        </a:lnSpc>
                      </a:pPr>
                      <a:endParaRPr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accuracy and Technical challenges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05659" y="969550"/>
            <a:ext cx="15808452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</a:t>
            </a:r>
            <a:r>
              <a:rPr lang="en-US" sz="54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5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192" y="5786442"/>
          <a:ext cx="16591973" cy="2857520"/>
        </p:xfrm>
        <a:graphic>
          <a:graphicData uri="http://schemas.openxmlformats.org/drawingml/2006/table">
            <a:tbl>
              <a:tblPr/>
              <a:tblGrid>
                <a:gridCol w="2357454"/>
                <a:gridCol w="3429024"/>
                <a:gridCol w="2786082"/>
                <a:gridCol w="2357454"/>
                <a:gridCol w="3000396"/>
                <a:gridCol w="2661563"/>
              </a:tblGrid>
              <a:tr h="31918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236730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Martendra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Pratap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Singh,Arzoo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Poswal,Eshu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Yadav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Volume control using Gestures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Open-CV,Numpy Module,Mediapipe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spc="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Less </a:t>
                      </a:r>
                      <a:r>
                        <a:rPr lang="en-US" sz="2700" spc="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reailable</a:t>
                      </a:r>
                      <a:r>
                        <a:rPr lang="en-US" sz="2700" spc="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due to background </a:t>
                      </a:r>
                      <a:r>
                        <a:rPr lang="en-US" sz="2700" spc="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disturbences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00030"/>
            <a:ext cx="11772900" cy="78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58620" lvl="3" indent="-414655" algn="l">
              <a:lnSpc>
                <a:spcPts val="6480"/>
              </a:lnSpc>
            </a:pPr>
            <a:r>
              <a:rPr lang="en-US" sz="4800" spc="-4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4800" u="sng" spc="-4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</a:t>
            </a:r>
            <a:r>
              <a:rPr lang="en-US" sz="4800" u="sng" spc="-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</a:t>
            </a:r>
            <a:r>
              <a:rPr lang="en-US" sz="5400" u="sng" spc="-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id="3" name="Freeform 3"/>
          <p:cNvSpPr/>
          <p:nvPr/>
        </p:nvSpPr>
        <p:spPr>
          <a:xfrm>
            <a:off x="1428696" y="1500162"/>
            <a:ext cx="9949177" cy="1094108"/>
          </a:xfrm>
          <a:custGeom>
            <a:avLst/>
            <a:gdLst/>
            <a:ahLst/>
            <a:cxnLst/>
            <a:rect l="l" t="t" r="r" b="b"/>
            <a:pathLst>
              <a:path w="9949177" h="1094108">
                <a:moveTo>
                  <a:pt x="0" y="0"/>
                </a:moveTo>
                <a:lnTo>
                  <a:pt x="9949177" y="0"/>
                </a:lnTo>
                <a:lnTo>
                  <a:pt x="9949177" y="1094108"/>
                </a:lnTo>
                <a:lnTo>
                  <a:pt x="0" y="109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7867" b="-786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63774" y="1722339"/>
            <a:ext cx="632650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control limitations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414462" y="3286112"/>
            <a:ext cx="9915525" cy="1357312"/>
          </a:xfrm>
          <a:custGeom>
            <a:avLst/>
            <a:gdLst/>
            <a:ahLst/>
            <a:cxnLst/>
            <a:rect l="l" t="t" r="r" b="b"/>
            <a:pathLst>
              <a:path w="9915525" h="1357312">
                <a:moveTo>
                  <a:pt x="0" y="0"/>
                </a:moveTo>
                <a:lnTo>
                  <a:pt x="9915526" y="0"/>
                </a:lnTo>
                <a:lnTo>
                  <a:pt x="9915526" y="1357313"/>
                </a:lnTo>
                <a:lnTo>
                  <a:pt x="0" y="1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175" b="-17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63774" y="3608861"/>
            <a:ext cx="803416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interest in gesture recognition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428750" y="5286376"/>
            <a:ext cx="9915525" cy="1357312"/>
          </a:xfrm>
          <a:custGeom>
            <a:avLst/>
            <a:gdLst/>
            <a:ahLst/>
            <a:cxnLst/>
            <a:rect l="l" t="t" r="r" b="b"/>
            <a:pathLst>
              <a:path w="9915525" h="1357312">
                <a:moveTo>
                  <a:pt x="0" y="0"/>
                </a:moveTo>
                <a:lnTo>
                  <a:pt x="9915525" y="0"/>
                </a:lnTo>
                <a:lnTo>
                  <a:pt x="9915525" y="1357313"/>
                </a:lnTo>
                <a:lnTo>
                  <a:pt x="0" y="1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175" b="-17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31808" y="5615369"/>
            <a:ext cx="732868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Enhanced User Experience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28696" y="7215212"/>
            <a:ext cx="9915525" cy="1357312"/>
          </a:xfrm>
          <a:custGeom>
            <a:avLst/>
            <a:gdLst/>
            <a:ahLst/>
            <a:cxnLst/>
            <a:rect l="l" t="t" r="r" b="b"/>
            <a:pathLst>
              <a:path w="9915525" h="1357312">
                <a:moveTo>
                  <a:pt x="0" y="0"/>
                </a:moveTo>
                <a:lnTo>
                  <a:pt x="9915525" y="0"/>
                </a:lnTo>
                <a:lnTo>
                  <a:pt x="9915525" y="1357313"/>
                </a:lnTo>
                <a:lnTo>
                  <a:pt x="0" y="135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175" b="-17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714750" y="7608027"/>
            <a:ext cx="6364519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Integration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772900" y="1285848"/>
            <a:ext cx="6312694" cy="3768566"/>
            <a:chOff x="0" y="0"/>
            <a:chExt cx="8416925" cy="50247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16925" cy="5024755"/>
            </a:xfrm>
            <a:custGeom>
              <a:avLst/>
              <a:gdLst/>
              <a:ahLst/>
              <a:cxnLst/>
              <a:rect l="l" t="t" r="r" b="b"/>
              <a:pathLst>
                <a:path w="8416925" h="5024755">
                  <a:moveTo>
                    <a:pt x="1270000" y="0"/>
                  </a:moveTo>
                  <a:lnTo>
                    <a:pt x="7146925" y="0"/>
                  </a:lnTo>
                  <a:cubicBezTo>
                    <a:pt x="7848346" y="0"/>
                    <a:pt x="8416925" y="568579"/>
                    <a:pt x="8416925" y="1270000"/>
                  </a:cubicBezTo>
                  <a:lnTo>
                    <a:pt x="8416925" y="3754755"/>
                  </a:lnTo>
                  <a:cubicBezTo>
                    <a:pt x="8416925" y="4091559"/>
                    <a:pt x="8283067" y="4414647"/>
                    <a:pt x="8044942" y="4652772"/>
                  </a:cubicBezTo>
                  <a:cubicBezTo>
                    <a:pt x="7806817" y="4890897"/>
                    <a:pt x="7483729" y="5024755"/>
                    <a:pt x="7146925" y="5024755"/>
                  </a:cubicBezTo>
                  <a:lnTo>
                    <a:pt x="1270000" y="5024755"/>
                  </a:lnTo>
                  <a:cubicBezTo>
                    <a:pt x="568579" y="5024755"/>
                    <a:pt x="0" y="4456176"/>
                    <a:pt x="0" y="3754755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8"/>
              <a:stretch>
                <a:fillRect t="-5876" b="-5876"/>
              </a:stretch>
            </a:blipFill>
          </p:spPr>
        </p:sp>
      </p:grpSp>
      <p:pic>
        <p:nvPicPr>
          <p:cNvPr id="26" name="Picture 25" descr="Screenshot 2026-01-06 22313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87206" y="5286376"/>
            <a:ext cx="6272204" cy="41535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2" y="357154"/>
            <a:ext cx="6255068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7955" lvl="3" indent="-354489">
              <a:lnSpc>
                <a:spcPts val="6480"/>
              </a:lnSpc>
            </a:pPr>
            <a:r>
              <a:rPr lang="en-US" sz="5400" u="sng" spc="-1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5400" u="sng" spc="-15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BJECTIVES</a:t>
            </a:r>
            <a:r>
              <a:rPr lang="en-US" sz="5400" u="sng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8630" y="2000228"/>
            <a:ext cx="16144875" cy="7572370"/>
            <a:chOff x="381003" y="571504"/>
            <a:chExt cx="21526500" cy="11049000"/>
          </a:xfrm>
        </p:grpSpPr>
        <p:sp>
          <p:nvSpPr>
            <p:cNvPr id="4" name="Freeform 4"/>
            <p:cNvSpPr/>
            <p:nvPr/>
          </p:nvSpPr>
          <p:spPr>
            <a:xfrm>
              <a:off x="381003" y="571504"/>
              <a:ext cx="21526500" cy="11049000"/>
            </a:xfrm>
            <a:custGeom>
              <a:avLst/>
              <a:gdLst/>
              <a:ahLst/>
              <a:cxnLst/>
              <a:rect l="l" t="t" r="r" b="b"/>
              <a:pathLst>
                <a:path w="21526500" h="11049000">
                  <a:moveTo>
                    <a:pt x="0" y="0"/>
                  </a:moveTo>
                  <a:lnTo>
                    <a:pt x="21526500" y="0"/>
                  </a:lnTo>
                  <a:lnTo>
                    <a:pt x="21526500" y="11049000"/>
                  </a:lnTo>
                  <a:lnTo>
                    <a:pt x="0" y="1104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7358050" y="6000756"/>
            <a:ext cx="264041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4448" y="4071930"/>
            <a:ext cx="3391595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Enhancement of</a:t>
            </a:r>
          </a:p>
          <a:p>
            <a:pPr algn="ctr">
              <a:lnSpc>
                <a:spcPts val="429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Interaction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00860" y="2143104"/>
            <a:ext cx="3177540" cy="1811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of Gesture Recognition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3010" y="7786706"/>
            <a:ext cx="3476368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</a:t>
            </a:r>
          </a:p>
          <a:p>
            <a:pPr algn="ctr">
              <a:lnSpc>
                <a:spcPts val="430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 Control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44462" y="7643830"/>
            <a:ext cx="3714940" cy="180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a Diverse Gesture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87338" y="3929054"/>
            <a:ext cx="3440430" cy="235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3600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Machine Learning Algorithms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0068" y="500030"/>
            <a:ext cx="5349802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17955" lvl="3" indent="-354489" algn="l">
              <a:lnSpc>
                <a:spcPts val="6480"/>
              </a:lnSpc>
            </a:pPr>
            <a:r>
              <a:rPr lang="en-US" sz="5400" u="sng" spc="-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1506" y="1785914"/>
            <a:ext cx="16111538" cy="596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420" lvl="3" indent="-236855" algn="l">
              <a:lnSpc>
                <a:spcPts val="6495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real-time gesture recognition, a user can operate a computer by making a specific gesture in front of a Computer's camera. With the help of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module, we will create a hand gesture. Without the use of a key board or mouse, the system will be controlled by hand gestures. The main purpose of this project is to implement a gesture- based volume control using machine learning algorithm. In which it doesn't require any special markers, and it can be used in real-life on the basic PCs with inexpensive cameras.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501454" y="6929450"/>
            <a:ext cx="4871466" cy="2857500"/>
            <a:chOff x="0" y="0"/>
            <a:chExt cx="6495288" cy="381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95288" cy="3810000"/>
            </a:xfrm>
            <a:custGeom>
              <a:avLst/>
              <a:gdLst/>
              <a:ahLst/>
              <a:cxnLst/>
              <a:rect l="l" t="t" r="r" b="b"/>
              <a:pathLst>
                <a:path w="6495288" h="3810000">
                  <a:moveTo>
                    <a:pt x="1270000" y="0"/>
                  </a:moveTo>
                  <a:lnTo>
                    <a:pt x="5225288" y="0"/>
                  </a:lnTo>
                  <a:cubicBezTo>
                    <a:pt x="5926709" y="0"/>
                    <a:pt x="6495288" y="568579"/>
                    <a:pt x="6495288" y="1270000"/>
                  </a:cubicBezTo>
                  <a:lnTo>
                    <a:pt x="6495288" y="2540000"/>
                  </a:lnTo>
                  <a:cubicBezTo>
                    <a:pt x="6495288" y="2876804"/>
                    <a:pt x="6361430" y="3199892"/>
                    <a:pt x="6123305" y="3438017"/>
                  </a:cubicBezTo>
                  <a:cubicBezTo>
                    <a:pt x="5885180" y="3676142"/>
                    <a:pt x="5562092" y="3810000"/>
                    <a:pt x="5225288" y="3810000"/>
                  </a:cubicBezTo>
                  <a:lnTo>
                    <a:pt x="1270000" y="3810000"/>
                  </a:lnTo>
                  <a:cubicBezTo>
                    <a:pt x="568579" y="3810000"/>
                    <a:pt x="0" y="3241421"/>
                    <a:pt x="0" y="2540000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2"/>
              <a:stretch>
                <a:fillRect t="-7250" b="-725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2944" y="2071666"/>
            <a:ext cx="7377427" cy="789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r>
              <a:rPr lang="en-US" sz="5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12318" y="3643302"/>
            <a:ext cx="16275682" cy="724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pycharm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software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open-CV Python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pyautoGUI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packages</a:t>
            </a:r>
          </a:p>
        </p:txBody>
      </p:sp>
      <p:sp>
        <p:nvSpPr>
          <p:cNvPr id="4" name="Freeform 4"/>
          <p:cNvSpPr/>
          <p:nvPr/>
        </p:nvSpPr>
        <p:spPr>
          <a:xfrm>
            <a:off x="9429752" y="2000228"/>
            <a:ext cx="7629525" cy="5995996"/>
          </a:xfrm>
          <a:custGeom>
            <a:avLst/>
            <a:gdLst/>
            <a:ahLst/>
            <a:cxnLst/>
            <a:rect l="l" t="t" r="r" b="b"/>
            <a:pathLst>
              <a:path w="7629525" h="6000750">
                <a:moveTo>
                  <a:pt x="0" y="0"/>
                </a:moveTo>
                <a:lnTo>
                  <a:pt x="7629525" y="0"/>
                </a:lnTo>
                <a:lnTo>
                  <a:pt x="7629525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0240" y="436245"/>
            <a:ext cx="6318885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</p:txBody>
      </p:sp>
      <p:sp>
        <p:nvSpPr>
          <p:cNvPr id="5" name="AutoShape 5"/>
          <p:cNvSpPr/>
          <p:nvPr/>
        </p:nvSpPr>
        <p:spPr>
          <a:xfrm rot="5820">
            <a:off x="1358894" y="1323975"/>
            <a:ext cx="15036822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5385360">
            <a:off x="5702275" y="3381375"/>
            <a:ext cx="5969051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9235440" y="456562"/>
            <a:ext cx="6774818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840" y="1724025"/>
            <a:ext cx="6278880" cy="372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and libraries used: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 and volume control module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detection module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recognition module</a:t>
            </a:r>
          </a:p>
          <a:p>
            <a:pPr marL="386080" lvl="1" indent="-193040" algn="l">
              <a:lnSpc>
                <a:spcPts val="384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Open CV and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mediapipe,Numphy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etc.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87840" y="1807845"/>
            <a:ext cx="6278880" cy="372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and libraries used: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and volume control module</a:t>
            </a:r>
          </a:p>
          <a:p>
            <a:pPr marL="386080" lvl="1" indent="-193040" algn="l">
              <a:lnSpc>
                <a:spcPts val="3840"/>
              </a:lnSpc>
              <a:buAutoNum type="arabicPeriod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Gesture recognition module</a:t>
            </a:r>
          </a:p>
          <a:p>
            <a:pPr marL="386080" lvl="1" indent="-193040"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Open CV and mediapipe</a:t>
            </a:r>
          </a:p>
          <a:p>
            <a:pPr marL="386080" lvl="1" indent="-193040"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pyautoGUI library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20791" y="275911"/>
            <a:ext cx="15303503" cy="6203947"/>
            <a:chOff x="0" y="0"/>
            <a:chExt cx="20404671" cy="82719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404710" cy="8271891"/>
            </a:xfrm>
            <a:custGeom>
              <a:avLst/>
              <a:gdLst/>
              <a:ahLst/>
              <a:cxnLst/>
              <a:rect l="l" t="t" r="r" b="b"/>
              <a:pathLst>
                <a:path w="20404710" h="8271891">
                  <a:moveTo>
                    <a:pt x="19050" y="0"/>
                  </a:moveTo>
                  <a:lnTo>
                    <a:pt x="20385660" y="0"/>
                  </a:lnTo>
                  <a:cubicBezTo>
                    <a:pt x="20396200" y="0"/>
                    <a:pt x="20404710" y="8509"/>
                    <a:pt x="20404710" y="19050"/>
                  </a:cubicBezTo>
                  <a:lnTo>
                    <a:pt x="20404710" y="8252841"/>
                  </a:lnTo>
                  <a:cubicBezTo>
                    <a:pt x="20404710" y="8263382"/>
                    <a:pt x="20396200" y="8271891"/>
                    <a:pt x="20385660" y="8271891"/>
                  </a:cubicBezTo>
                  <a:lnTo>
                    <a:pt x="19050" y="8271891"/>
                  </a:lnTo>
                  <a:cubicBezTo>
                    <a:pt x="8509" y="8271891"/>
                    <a:pt x="0" y="8263382"/>
                    <a:pt x="0" y="8252841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8252841"/>
                  </a:lnTo>
                  <a:lnTo>
                    <a:pt x="19050" y="8252841"/>
                  </a:lnTo>
                  <a:lnTo>
                    <a:pt x="19050" y="8233791"/>
                  </a:lnTo>
                  <a:lnTo>
                    <a:pt x="20385660" y="8233791"/>
                  </a:lnTo>
                  <a:lnTo>
                    <a:pt x="20385660" y="8252841"/>
                  </a:lnTo>
                  <a:lnTo>
                    <a:pt x="20366610" y="8252841"/>
                  </a:lnTo>
                  <a:lnTo>
                    <a:pt x="20366610" y="19050"/>
                  </a:lnTo>
                  <a:lnTo>
                    <a:pt x="20385660" y="19050"/>
                  </a:lnTo>
                  <a:lnTo>
                    <a:pt x="2038566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4" name="Freeform 14"/>
          <p:cNvSpPr/>
          <p:nvPr/>
        </p:nvSpPr>
        <p:spPr>
          <a:xfrm>
            <a:off x="2846056" y="6667500"/>
            <a:ext cx="4297680" cy="3449955"/>
          </a:xfrm>
          <a:custGeom>
            <a:avLst/>
            <a:gdLst/>
            <a:ahLst/>
            <a:cxnLst/>
            <a:rect l="l" t="t" r="r" b="b"/>
            <a:pathLst>
              <a:path w="4297680" h="3449955">
                <a:moveTo>
                  <a:pt x="0" y="0"/>
                </a:moveTo>
                <a:lnTo>
                  <a:pt x="4297680" y="0"/>
                </a:lnTo>
                <a:lnTo>
                  <a:pt x="4297680" y="3449955"/>
                </a:lnTo>
                <a:lnTo>
                  <a:pt x="0" y="3449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168" b="-1216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546437" y="6667500"/>
            <a:ext cx="4669793" cy="3361058"/>
          </a:xfrm>
          <a:custGeom>
            <a:avLst/>
            <a:gdLst/>
            <a:ahLst/>
            <a:cxnLst/>
            <a:rect l="l" t="t" r="r" b="b"/>
            <a:pathLst>
              <a:path w="4669793" h="3361058">
                <a:moveTo>
                  <a:pt x="0" y="0"/>
                </a:moveTo>
                <a:lnTo>
                  <a:pt x="4669793" y="0"/>
                </a:lnTo>
                <a:lnTo>
                  <a:pt x="4669793" y="3361058"/>
                </a:lnTo>
                <a:lnTo>
                  <a:pt x="0" y="3361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34" b="-203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96666"/>
            <a:ext cx="9582626" cy="7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35735" lvl="3" indent="-358934" algn="l">
              <a:lnSpc>
                <a:spcPts val="6480"/>
              </a:lnSpc>
            </a:pPr>
            <a:r>
              <a:rPr lang="en-US" sz="5400" u="sng" spc="9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553551" y="1371600"/>
            <a:ext cx="4847654" cy="935355"/>
            <a:chOff x="0" y="0"/>
            <a:chExt cx="6463538" cy="12471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/>
          <p:cNvSpPr/>
          <p:nvPr/>
        </p:nvSpPr>
        <p:spPr>
          <a:xfrm>
            <a:off x="5544026" y="13620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94823" y="14344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00700" y="2857500"/>
            <a:ext cx="4847654" cy="935355"/>
            <a:chOff x="0" y="0"/>
            <a:chExt cx="6463538" cy="12471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Freeform 9"/>
          <p:cNvSpPr/>
          <p:nvPr/>
        </p:nvSpPr>
        <p:spPr>
          <a:xfrm>
            <a:off x="5591175" y="2847975"/>
            <a:ext cx="4866703" cy="954405"/>
          </a:xfrm>
          <a:custGeom>
            <a:avLst/>
            <a:gdLst/>
            <a:ahLst/>
            <a:cxnLst/>
            <a:rect l="l" t="t" r="r" b="b"/>
            <a:pathLst>
              <a:path w="4866703" h="954405">
                <a:moveTo>
                  <a:pt x="0" y="0"/>
                </a:moveTo>
                <a:lnTo>
                  <a:pt x="4866703" y="0"/>
                </a:lnTo>
                <a:lnTo>
                  <a:pt x="4866703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641972" y="29203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Detection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667851" y="4343400"/>
            <a:ext cx="4847654" cy="935355"/>
            <a:chOff x="0" y="0"/>
            <a:chExt cx="6463538" cy="12471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Freeform 13"/>
          <p:cNvSpPr/>
          <p:nvPr/>
        </p:nvSpPr>
        <p:spPr>
          <a:xfrm>
            <a:off x="5658326" y="43338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709123" y="44062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667851" y="5829300"/>
            <a:ext cx="4847654" cy="935355"/>
            <a:chOff x="0" y="0"/>
            <a:chExt cx="6463538" cy="12471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7" name="Freeform 17"/>
          <p:cNvSpPr/>
          <p:nvPr/>
        </p:nvSpPr>
        <p:spPr>
          <a:xfrm>
            <a:off x="5658326" y="58197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709123" y="58921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667851" y="7315200"/>
            <a:ext cx="4847654" cy="935355"/>
            <a:chOff x="0" y="0"/>
            <a:chExt cx="6463538" cy="12471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Freeform 21"/>
          <p:cNvSpPr/>
          <p:nvPr/>
        </p:nvSpPr>
        <p:spPr>
          <a:xfrm>
            <a:off x="5658326" y="73056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709123" y="73780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82151" y="8915400"/>
            <a:ext cx="4847654" cy="935355"/>
            <a:chOff x="0" y="0"/>
            <a:chExt cx="6463538" cy="12471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Freeform 25"/>
          <p:cNvSpPr/>
          <p:nvPr/>
        </p:nvSpPr>
        <p:spPr>
          <a:xfrm>
            <a:off x="5772626" y="8905875"/>
            <a:ext cx="4866704" cy="954405"/>
          </a:xfrm>
          <a:custGeom>
            <a:avLst/>
            <a:gdLst/>
            <a:ahLst/>
            <a:cxnLst/>
            <a:rect l="l" t="t" r="r" b="b"/>
            <a:pathLst>
              <a:path w="4866704" h="954405">
                <a:moveTo>
                  <a:pt x="0" y="0"/>
                </a:moveTo>
                <a:lnTo>
                  <a:pt x="4866704" y="0"/>
                </a:lnTo>
                <a:lnTo>
                  <a:pt x="4866704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823423" y="89782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01500" y="8915400"/>
            <a:ext cx="4847654" cy="935355"/>
            <a:chOff x="0" y="0"/>
            <a:chExt cx="6463538" cy="12471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63538" cy="1247140"/>
            </a:xfrm>
            <a:custGeom>
              <a:avLst/>
              <a:gdLst/>
              <a:ahLst/>
              <a:cxnLst/>
              <a:rect l="l" t="t" r="r" b="b"/>
              <a:pathLst>
                <a:path w="6463538" h="1247140">
                  <a:moveTo>
                    <a:pt x="0" y="207899"/>
                  </a:moveTo>
                  <a:cubicBezTo>
                    <a:pt x="0" y="93091"/>
                    <a:pt x="94615" y="0"/>
                    <a:pt x="211201" y="0"/>
                  </a:cubicBezTo>
                  <a:lnTo>
                    <a:pt x="6252337" y="0"/>
                  </a:lnTo>
                  <a:cubicBezTo>
                    <a:pt x="6369050" y="0"/>
                    <a:pt x="6463538" y="93091"/>
                    <a:pt x="6463538" y="207899"/>
                  </a:cubicBezTo>
                  <a:lnTo>
                    <a:pt x="6463538" y="1039241"/>
                  </a:lnTo>
                  <a:cubicBezTo>
                    <a:pt x="6463538" y="1154049"/>
                    <a:pt x="6368923" y="1247140"/>
                    <a:pt x="6252337" y="1247140"/>
                  </a:cubicBezTo>
                  <a:lnTo>
                    <a:pt x="211201" y="1247140"/>
                  </a:lnTo>
                  <a:cubicBezTo>
                    <a:pt x="94615" y="1247140"/>
                    <a:pt x="0" y="1154049"/>
                    <a:pt x="0" y="10392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Freeform 29"/>
          <p:cNvSpPr/>
          <p:nvPr/>
        </p:nvSpPr>
        <p:spPr>
          <a:xfrm>
            <a:off x="11991975" y="8905875"/>
            <a:ext cx="4866703" cy="954405"/>
          </a:xfrm>
          <a:custGeom>
            <a:avLst/>
            <a:gdLst/>
            <a:ahLst/>
            <a:cxnLst/>
            <a:rect l="l" t="t" r="r" b="b"/>
            <a:pathLst>
              <a:path w="4866703" h="954405">
                <a:moveTo>
                  <a:pt x="0" y="0"/>
                </a:moveTo>
                <a:lnTo>
                  <a:pt x="4866703" y="0"/>
                </a:lnTo>
                <a:lnTo>
                  <a:pt x="4866703" y="954405"/>
                </a:lnTo>
                <a:lnTo>
                  <a:pt x="0" y="95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393" b="-393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042772" y="897826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040400" y="7358158"/>
            <a:ext cx="4847654" cy="990981"/>
            <a:chOff x="0" y="0"/>
            <a:chExt cx="6463538" cy="13213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63538" cy="1321308"/>
            </a:xfrm>
            <a:custGeom>
              <a:avLst/>
              <a:gdLst/>
              <a:ahLst/>
              <a:cxnLst/>
              <a:rect l="l" t="t" r="r" b="b"/>
              <a:pathLst>
                <a:path w="6463538" h="1321308">
                  <a:moveTo>
                    <a:pt x="0" y="0"/>
                  </a:moveTo>
                  <a:cubicBezTo>
                    <a:pt x="0" y="104267"/>
                    <a:pt x="1446911" y="188722"/>
                    <a:pt x="3231769" y="188722"/>
                  </a:cubicBezTo>
                  <a:cubicBezTo>
                    <a:pt x="5016627" y="188722"/>
                    <a:pt x="6463538" y="104267"/>
                    <a:pt x="6463538" y="0"/>
                  </a:cubicBezTo>
                  <a:lnTo>
                    <a:pt x="6463538" y="1132586"/>
                  </a:lnTo>
                  <a:cubicBezTo>
                    <a:pt x="6463538" y="1236853"/>
                    <a:pt x="5016627" y="1321308"/>
                    <a:pt x="3231769" y="1321308"/>
                  </a:cubicBezTo>
                  <a:cubicBezTo>
                    <a:pt x="1446911" y="1321308"/>
                    <a:pt x="0" y="1236853"/>
                    <a:pt x="0" y="113258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2040400" y="7216616"/>
            <a:ext cx="4847749" cy="283083"/>
            <a:chOff x="0" y="0"/>
            <a:chExt cx="6463665" cy="3774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63665" cy="377444"/>
            </a:xfrm>
            <a:custGeom>
              <a:avLst/>
              <a:gdLst/>
              <a:ahLst/>
              <a:cxnLst/>
              <a:rect l="l" t="t" r="r" b="b"/>
              <a:pathLst>
                <a:path w="6463665" h="377444">
                  <a:moveTo>
                    <a:pt x="0" y="188722"/>
                  </a:moveTo>
                  <a:cubicBezTo>
                    <a:pt x="0" y="84455"/>
                    <a:pt x="1446911" y="0"/>
                    <a:pt x="3231769" y="0"/>
                  </a:cubicBezTo>
                  <a:cubicBezTo>
                    <a:pt x="5016627" y="0"/>
                    <a:pt x="6463665" y="84455"/>
                    <a:pt x="6463665" y="188722"/>
                  </a:cubicBezTo>
                  <a:cubicBezTo>
                    <a:pt x="6463665" y="292989"/>
                    <a:pt x="5016754" y="377444"/>
                    <a:pt x="3231769" y="377444"/>
                  </a:cubicBezTo>
                  <a:cubicBezTo>
                    <a:pt x="1446784" y="377444"/>
                    <a:pt x="0" y="292989"/>
                    <a:pt x="0" y="18872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5" name="Freeform 35"/>
          <p:cNvSpPr/>
          <p:nvPr/>
        </p:nvSpPr>
        <p:spPr>
          <a:xfrm>
            <a:off x="12030875" y="7348633"/>
            <a:ext cx="4866894" cy="1010031"/>
          </a:xfrm>
          <a:custGeom>
            <a:avLst/>
            <a:gdLst/>
            <a:ahLst/>
            <a:cxnLst/>
            <a:rect l="l" t="t" r="r" b="b"/>
            <a:pathLst>
              <a:path w="4866894" h="1010031">
                <a:moveTo>
                  <a:pt x="0" y="0"/>
                </a:moveTo>
                <a:lnTo>
                  <a:pt x="4866894" y="0"/>
                </a:lnTo>
                <a:lnTo>
                  <a:pt x="4866894" y="1010031"/>
                </a:lnTo>
                <a:lnTo>
                  <a:pt x="0" y="1010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448" b="-448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030875" y="7207091"/>
            <a:ext cx="4866799" cy="302133"/>
          </a:xfrm>
          <a:custGeom>
            <a:avLst/>
            <a:gdLst/>
            <a:ahLst/>
            <a:cxnLst/>
            <a:rect l="l" t="t" r="r" b="b"/>
            <a:pathLst>
              <a:path w="4866799" h="302133">
                <a:moveTo>
                  <a:pt x="0" y="0"/>
                </a:moveTo>
                <a:lnTo>
                  <a:pt x="4866799" y="0"/>
                </a:lnTo>
                <a:lnTo>
                  <a:pt x="4866799" y="302133"/>
                </a:lnTo>
                <a:lnTo>
                  <a:pt x="0" y="302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435" b="-438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2030780" y="7207091"/>
            <a:ext cx="4866894" cy="1151572"/>
          </a:xfrm>
          <a:custGeom>
            <a:avLst/>
            <a:gdLst/>
            <a:ahLst/>
            <a:cxnLst/>
            <a:rect l="l" t="t" r="r" b="b"/>
            <a:pathLst>
              <a:path w="4866894" h="1151572">
                <a:moveTo>
                  <a:pt x="0" y="0"/>
                </a:moveTo>
                <a:lnTo>
                  <a:pt x="4866894" y="0"/>
                </a:lnTo>
                <a:lnTo>
                  <a:pt x="4866894" y="1151573"/>
                </a:lnTo>
                <a:lnTo>
                  <a:pt x="0" y="1151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t="-37" b="-38"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2079776" y="7553325"/>
            <a:ext cx="476519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Dictionary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896215" y="2335740"/>
            <a:ext cx="19240" cy="521875"/>
            <a:chOff x="0" y="0"/>
            <a:chExt cx="25654" cy="695833"/>
          </a:xfrm>
        </p:grpSpPr>
        <p:sp>
          <p:nvSpPr>
            <p:cNvPr id="40" name="Freeform 40"/>
            <p:cNvSpPr/>
            <p:nvPr/>
          </p:nvSpPr>
          <p:spPr>
            <a:xfrm>
              <a:off x="123" y="123"/>
              <a:ext cx="25408" cy="695587"/>
            </a:xfrm>
            <a:custGeom>
              <a:avLst/>
              <a:gdLst/>
              <a:ahLst/>
              <a:cxnLst/>
              <a:rect l="l" t="t" r="r" b="b"/>
              <a:pathLst>
                <a:path w="25408" h="695587">
                  <a:moveTo>
                    <a:pt x="12704" y="6227"/>
                  </a:moveTo>
                  <a:lnTo>
                    <a:pt x="25404" y="689106"/>
                  </a:lnTo>
                  <a:cubicBezTo>
                    <a:pt x="25531" y="692662"/>
                    <a:pt x="22737" y="695456"/>
                    <a:pt x="19181" y="695583"/>
                  </a:cubicBezTo>
                  <a:cubicBezTo>
                    <a:pt x="15625" y="695710"/>
                    <a:pt x="12831" y="692916"/>
                    <a:pt x="12704" y="689360"/>
                  </a:cubicBezTo>
                  <a:lnTo>
                    <a:pt x="4" y="6481"/>
                  </a:lnTo>
                  <a:cubicBezTo>
                    <a:pt x="-123" y="2925"/>
                    <a:pt x="2671" y="131"/>
                    <a:pt x="6227" y="4"/>
                  </a:cubicBezTo>
                  <a:cubicBezTo>
                    <a:pt x="9783" y="-123"/>
                    <a:pt x="12577" y="2671"/>
                    <a:pt x="12704" y="6227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 rot="5318220">
            <a:off x="7627163" y="4063384"/>
            <a:ext cx="521780" cy="9525"/>
            <a:chOff x="0" y="0"/>
            <a:chExt cx="695706" cy="127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 rot="5336100">
            <a:off x="7625810" y="5573249"/>
            <a:ext cx="521780" cy="9525"/>
            <a:chOff x="0" y="0"/>
            <a:chExt cx="695706" cy="127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 rot="5336100">
            <a:off x="7625810" y="7059149"/>
            <a:ext cx="521780" cy="9525"/>
            <a:chOff x="0" y="0"/>
            <a:chExt cx="695706" cy="12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 rot="5336100">
            <a:off x="7625810" y="8545049"/>
            <a:ext cx="521780" cy="9525"/>
            <a:chOff x="0" y="0"/>
            <a:chExt cx="695706" cy="127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95706" cy="12700"/>
            </a:xfrm>
            <a:custGeom>
              <a:avLst/>
              <a:gdLst/>
              <a:ahLst/>
              <a:cxnLst/>
              <a:rect l="l" t="t" r="r" b="b"/>
              <a:pathLst>
                <a:path w="695706" h="12700">
                  <a:moveTo>
                    <a:pt x="6350" y="0"/>
                  </a:moveTo>
                  <a:lnTo>
                    <a:pt x="689356" y="0"/>
                  </a:lnTo>
                  <a:cubicBezTo>
                    <a:pt x="692912" y="0"/>
                    <a:pt x="695706" y="2794"/>
                    <a:pt x="695706" y="6350"/>
                  </a:cubicBezTo>
                  <a:cubicBezTo>
                    <a:pt x="695706" y="9906"/>
                    <a:pt x="692912" y="12700"/>
                    <a:pt x="689356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 rot="23700">
            <a:off x="10620356" y="9378315"/>
            <a:ext cx="1390650" cy="9525"/>
            <a:chOff x="0" y="0"/>
            <a:chExt cx="1854200" cy="127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854200" cy="12700"/>
            </a:xfrm>
            <a:custGeom>
              <a:avLst/>
              <a:gdLst/>
              <a:ahLst/>
              <a:cxnLst/>
              <a:rect l="l" t="t" r="r" b="b"/>
              <a:pathLst>
                <a:path w="1854200" h="12700">
                  <a:moveTo>
                    <a:pt x="6350" y="0"/>
                  </a:moveTo>
                  <a:lnTo>
                    <a:pt x="1847850" y="0"/>
                  </a:lnTo>
                  <a:cubicBezTo>
                    <a:pt x="1851406" y="0"/>
                    <a:pt x="1854200" y="2794"/>
                    <a:pt x="1854200" y="6350"/>
                  </a:cubicBezTo>
                  <a:cubicBezTo>
                    <a:pt x="1854200" y="9906"/>
                    <a:pt x="1851406" y="12700"/>
                    <a:pt x="184785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2001520" y="2108932"/>
            <a:ext cx="4847749" cy="3248882"/>
            <a:chOff x="0" y="0"/>
            <a:chExt cx="6463665" cy="433184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63665" cy="4331843"/>
            </a:xfrm>
            <a:custGeom>
              <a:avLst/>
              <a:gdLst/>
              <a:ahLst/>
              <a:cxnLst/>
              <a:rect l="l" t="t" r="r" b="b"/>
              <a:pathLst>
                <a:path w="6463665" h="4331843">
                  <a:moveTo>
                    <a:pt x="1270000" y="0"/>
                  </a:moveTo>
                  <a:lnTo>
                    <a:pt x="5193665" y="0"/>
                  </a:lnTo>
                  <a:cubicBezTo>
                    <a:pt x="5530469" y="0"/>
                    <a:pt x="5853557" y="133858"/>
                    <a:pt x="6091682" y="371983"/>
                  </a:cubicBezTo>
                  <a:cubicBezTo>
                    <a:pt x="6329807" y="610108"/>
                    <a:pt x="6463665" y="933196"/>
                    <a:pt x="6463665" y="1270000"/>
                  </a:cubicBezTo>
                  <a:lnTo>
                    <a:pt x="6463665" y="3061843"/>
                  </a:lnTo>
                  <a:cubicBezTo>
                    <a:pt x="6463665" y="3763264"/>
                    <a:pt x="5895086" y="4331843"/>
                    <a:pt x="5193665" y="4331843"/>
                  </a:cubicBezTo>
                  <a:lnTo>
                    <a:pt x="1270000" y="4331843"/>
                  </a:lnTo>
                  <a:cubicBezTo>
                    <a:pt x="568579" y="4331843"/>
                    <a:pt x="0" y="3763264"/>
                    <a:pt x="0" y="3061843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10"/>
              <a:stretch>
                <a:fillRect t="-3421" b="-3421"/>
              </a:stretch>
            </a:blipFill>
          </p:spPr>
        </p:sp>
      </p:grpSp>
      <p:cxnSp>
        <p:nvCxnSpPr>
          <p:cNvPr id="56" name="Straight Connector 55"/>
          <p:cNvCxnSpPr/>
          <p:nvPr/>
        </p:nvCxnSpPr>
        <p:spPr>
          <a:xfrm>
            <a:off x="10501322" y="7786706"/>
            <a:ext cx="1571636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00030"/>
            <a:ext cx="1670203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17955" lvl="3" indent="-354489" algn="ctr">
              <a:lnSpc>
                <a:spcPts val="6480"/>
              </a:lnSpc>
            </a:pPr>
            <a:r>
              <a:rPr lang="en-US" sz="5400" u="sng" spc="1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85820" y="1714476"/>
            <a:ext cx="15773400" cy="705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9965" lvl="3" indent="-247491">
              <a:lnSpc>
                <a:spcPts val="5040"/>
              </a:lnSpc>
            </a:pPr>
            <a:r>
              <a:rPr lang="en-US" sz="4200" b="1" spc="39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R.ALAMI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''A Methodological approach relating the 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 to identification of human intent in the context of human-robot interaction", 371-377 2005 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PERALES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"Hand tracking and gesture recognition for human-  computer interaction",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2005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b="1" spc="39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G.R.S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Murthy, R.S. </a:t>
            </a:r>
            <a:r>
              <a:rPr lang="en-US" sz="4200" b="1" spc="39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Jadon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 Review of vision based Hand Gestures Recognition," International Journal of Information Technology and Knowledge Management, vol.2(2),pp.405410, </a:t>
            </a:r>
            <a:r>
              <a:rPr lang="en-US" sz="4200" spc="39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2009.</a:t>
            </a:r>
          </a:p>
          <a:p>
            <a:pPr marL="989965" lvl="3" indent="-247491">
              <a:lnSpc>
                <a:spcPts val="5040"/>
              </a:lnSpc>
            </a:pPr>
            <a:r>
              <a:rPr lang="en-US" sz="4200" b="1" spc="39" dirty="0" err="1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R.Liang</a:t>
            </a:r>
            <a:r>
              <a:rPr lang="en-US" sz="4200" b="1" spc="39" dirty="0" smtClean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M. </a:t>
            </a:r>
            <a:r>
              <a:rPr lang="en-US" sz="4200" b="1" spc="39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Ouhyoung</a:t>
            </a:r>
            <a:r>
              <a:rPr lang="en-US" sz="4200" b="1" spc="3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</a:t>
            </a:r>
            <a:r>
              <a:rPr lang="en-US" sz="4200" spc="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Real-time continuous Gesture Recognition System for Sign Language. Proc. FG, 1998</a:t>
            </a:r>
          </a:p>
        </p:txBody>
      </p:sp>
      <p:sp>
        <p:nvSpPr>
          <p:cNvPr id="12" name="Chevron 11"/>
          <p:cNvSpPr/>
          <p:nvPr/>
        </p:nvSpPr>
        <p:spPr>
          <a:xfrm>
            <a:off x="1357258" y="1857352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1285820" y="3714740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1285820" y="5000624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1214382" y="7572392"/>
            <a:ext cx="428628" cy="428628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5108" y="7143764"/>
            <a:ext cx="4876228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</a:t>
            </a:r>
            <a:r>
              <a:rPr lang="en-US" sz="5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86414" y="1928790"/>
            <a:ext cx="6437947" cy="4730368"/>
            <a:chOff x="0" y="0"/>
            <a:chExt cx="8583930" cy="5765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83930" cy="5765800"/>
            </a:xfrm>
            <a:custGeom>
              <a:avLst/>
              <a:gdLst/>
              <a:ahLst/>
              <a:cxnLst/>
              <a:rect l="l" t="t" r="r" b="b"/>
              <a:pathLst>
                <a:path w="8583930" h="5765800">
                  <a:moveTo>
                    <a:pt x="1270000" y="0"/>
                  </a:moveTo>
                  <a:lnTo>
                    <a:pt x="7313930" y="0"/>
                  </a:lnTo>
                  <a:cubicBezTo>
                    <a:pt x="8015351" y="0"/>
                    <a:pt x="8583930" y="568579"/>
                    <a:pt x="8583930" y="1270000"/>
                  </a:cubicBezTo>
                  <a:lnTo>
                    <a:pt x="8583930" y="4495800"/>
                  </a:lnTo>
                  <a:cubicBezTo>
                    <a:pt x="8583930" y="4832604"/>
                    <a:pt x="8450073" y="5155692"/>
                    <a:pt x="8211948" y="5393817"/>
                  </a:cubicBezTo>
                  <a:cubicBezTo>
                    <a:pt x="7973823" y="5631942"/>
                    <a:pt x="7650734" y="5765800"/>
                    <a:pt x="7313930" y="5765800"/>
                  </a:cubicBezTo>
                  <a:lnTo>
                    <a:pt x="1270000" y="5765800"/>
                  </a:lnTo>
                  <a:cubicBezTo>
                    <a:pt x="568579" y="5765800"/>
                    <a:pt x="0" y="5197221"/>
                    <a:pt x="0" y="4495800"/>
                  </a:cubicBezTo>
                  <a:lnTo>
                    <a:pt x="0" y="1270000"/>
                  </a:lnTo>
                  <a:cubicBezTo>
                    <a:pt x="0" y="568579"/>
                    <a:pt x="568579" y="0"/>
                    <a:pt x="1270000" y="0"/>
                  </a:cubicBezTo>
                  <a:close/>
                </a:path>
              </a:pathLst>
            </a:custGeom>
            <a:blipFill>
              <a:blip r:embed="rId2"/>
              <a:stretch>
                <a:fillRect l="-346" r="-34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423</Words>
  <Application>Microsoft Office PowerPoint</Application>
  <PresentationFormat>Custom</PresentationFormat>
  <Paragraphs>91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Times New Roman</vt:lpstr>
      <vt:lpstr>Calibri</vt:lpstr>
      <vt:lpstr>Times New Roman Bold</vt:lpstr>
      <vt:lpstr>Trebuchet MS</vt:lpstr>
      <vt:lpstr>Baskerville Old Face</vt:lpstr>
      <vt:lpstr>Arimo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 9.pptx_20240817_113358_0000-1.pptx</dc:title>
  <cp:lastModifiedBy>admin</cp:lastModifiedBy>
  <cp:revision>9</cp:revision>
  <dcterms:created xsi:type="dcterms:W3CDTF">2006-08-16T00:00:00Z</dcterms:created>
  <dcterms:modified xsi:type="dcterms:W3CDTF">2026-01-06T17:16:38Z</dcterms:modified>
  <dc:identifier>DAG9nknbVt0</dc:identifier>
</cp:coreProperties>
</file>